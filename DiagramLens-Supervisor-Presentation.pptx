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-403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DiagramLens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Beyond VLMs: Benchmarking Classical CV, Hybrid ML, and Generative Approaches</a:t>
            </a:r>
          </a:p>
          <a:p>
            <a:pPr>
              <a:spcAft>
                <a:spcPts val="800"/>
              </a:spcAft>
            </a:pPr>
            <a:r>
              <a:rPr sz="1800"/>
              <a:t>for Software Architecture Diagram Extraction</a:t>
            </a:r>
          </a:p>
          <a:p>
            <a:pPr>
              <a:spcAft>
                <a:spcPts val="800"/>
              </a:spcAft>
            </a:pPr>
            <a:endParaRPr sz="1800"/>
          </a:p>
          <a:p>
            <a:pPr>
              <a:spcAft>
                <a:spcPts val="800"/>
              </a:spcAft>
            </a:pPr>
            <a:r>
              <a:rPr sz="1800"/>
              <a:t>Yash Rajabhau Ingle  |  MSc Advanced Computer Science (AI)</a:t>
            </a:r>
          </a:p>
          <a:p>
            <a:pPr>
              <a:spcAft>
                <a:spcPts val="800"/>
              </a:spcAft>
            </a:pPr>
            <a:r>
              <a:rPr sz="1800"/>
              <a:t>Supervisor: Dr. Natasha Shakhlevich  |  University of Leeds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/>
              <a:t>• Architecture diagrams (AWS, C4, UML, informal sketches) are produced daily across software engineering.</a:t>
            </a:r>
          </a:p>
          <a:p>
            <a:pPr>
              <a:spcAft>
                <a:spcPts val="600"/>
              </a:spcAft>
            </a:pPr>
            <a:r>
              <a:rPr sz="1800" dirty="0"/>
              <a:t>• They are stored as static images - cannot be searched, queried, or programmatically </a:t>
            </a:r>
            <a:r>
              <a:rPr sz="1800" dirty="0" err="1"/>
              <a:t>analysed</a:t>
            </a:r>
            <a:r>
              <a:rPr sz="1800" dirty="0"/>
              <a:t>.</a:t>
            </a:r>
          </a:p>
          <a:p>
            <a:pPr>
              <a:spcAft>
                <a:spcPts val="600"/>
              </a:spcAft>
            </a:pPr>
            <a:r>
              <a:rPr sz="1800" dirty="0"/>
              <a:t>• No automatic way to recover structured knowledge (components + connections) from an existing diagram image.</a:t>
            </a:r>
          </a:p>
          <a:p>
            <a:pPr>
              <a:spcAft>
                <a:spcPts val="600"/>
              </a:spcAft>
            </a:pPr>
            <a:r>
              <a:rPr sz="1800" dirty="0"/>
              <a:t>• Three fundamentally different computational approaches exist to do this extraction - but no one has compared them on the same task</a:t>
            </a:r>
            <a:r>
              <a:rPr sz="1800" dirty="0" smtClean="0"/>
              <a:t>.</a:t>
            </a:r>
            <a:endParaRPr lang="en-US" sz="18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2. The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/>
              <a:t>This is the technical framing - not a cost/business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How much of architecture-diagram understanding is geometry, how much is perception, and how much is reasoning?</a:t>
            </a:r>
          </a:p>
          <a:p>
            <a:pPr lvl="1">
              <a:spcAft>
                <a:spcPts val="600"/>
              </a:spcAft>
            </a:pPr>
            <a:r>
              <a:rPr sz="1700"/>
              <a:t>- Geometry  = shapes, boxes, lines (pixels only)</a:t>
            </a:r>
          </a:p>
          <a:p>
            <a:pPr lvl="1">
              <a:spcAft>
                <a:spcPts val="600"/>
              </a:spcAft>
            </a:pPr>
            <a:r>
              <a:rPr sz="1700"/>
              <a:t>- Perception = recognising what a region means</a:t>
            </a:r>
          </a:p>
          <a:p>
            <a:pPr lvl="1">
              <a:spcAft>
                <a:spcPts val="600"/>
              </a:spcAft>
            </a:pPr>
            <a:r>
              <a:rPr sz="1700"/>
              <a:t>- Reasoning  = inferring structure from context + world knowledge</a:t>
            </a:r>
          </a:p>
          <a:p>
            <a:pPr>
              <a:spcAft>
                <a:spcPts val="600"/>
              </a:spcAft>
            </a:pPr>
            <a:r>
              <a:rPr sz="1800"/>
              <a:t>• Each of the three paradigms operates at a different one of these levels. Comparing them decomposes the task.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/>
              <a:t>3. The Three </a:t>
            </a:r>
            <a:r>
              <a:rPr lang="en-US" sz="3000" b="1" dirty="0" smtClean="0"/>
              <a:t>Methods</a:t>
            </a:r>
            <a:endParaRPr sz="3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Classical CV  -&gt;  sees GEOMETRY only</a:t>
            </a:r>
          </a:p>
          <a:p>
            <a:pPr lvl="1">
              <a:spcAft>
                <a:spcPts val="600"/>
              </a:spcAft>
            </a:pPr>
            <a:r>
              <a:rPr sz="1700"/>
              <a:t>- OpenCV contour + Canny edges + Hough lines + Tesseract OCR. No learned meaning. Cannot invent a component.</a:t>
            </a:r>
          </a:p>
          <a:p>
            <a:pPr>
              <a:spcAft>
                <a:spcPts val="600"/>
              </a:spcAft>
            </a:pPr>
            <a:r>
              <a:rPr sz="1800"/>
              <a:t>• Hybrid ML (SAM + CLIP + TrOCR)  -&gt;  sees LEARNED PERCEPTION</a:t>
            </a:r>
          </a:p>
          <a:p>
            <a:pPr lvl="1">
              <a:spcAft>
                <a:spcPts val="600"/>
              </a:spcAft>
            </a:pPr>
            <a:r>
              <a:rPr sz="1700"/>
              <a:t>- SAM segments regions, CLIP assigns semantic type zero-shot, TrOCR reads labels. Perception without cross-diagram reasoning.</a:t>
            </a:r>
          </a:p>
          <a:p>
            <a:pPr>
              <a:spcAft>
                <a:spcPts val="600"/>
              </a:spcAft>
            </a:pPr>
            <a:r>
              <a:rPr sz="1800"/>
              <a:t>• Generative VLM (Gemini 2.5 Flash)  -&gt;  sees HOLISTICALLY + REASONS</a:t>
            </a:r>
          </a:p>
          <a:p>
            <a:pPr lvl="1">
              <a:spcAft>
                <a:spcPts val="600"/>
              </a:spcAft>
            </a:pPr>
            <a:r>
              <a:rPr sz="1700"/>
              <a:t>- Reads whole image, uses world knowledge to infer. Most capable - but reasoning is also the source of hallucination.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4. The Central Tradeoff: Grounding vs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/>
              <a:t>• VLM being 'so good' is exactly WHY it is dangerous - it is confidently wrong when it hallucinates.</a:t>
            </a:r>
          </a:p>
          <a:p>
            <a:pPr>
              <a:spcAft>
                <a:spcPts val="600"/>
              </a:spcAft>
            </a:pPr>
            <a:r>
              <a:rPr sz="1800" dirty="0"/>
              <a:t>• Classical CV literally cannot hallucinate: no box in image = no component in output.</a:t>
            </a:r>
          </a:p>
          <a:p>
            <a:pPr>
              <a:spcAft>
                <a:spcPts val="600"/>
              </a:spcAft>
            </a:pPr>
            <a:r>
              <a:rPr sz="1800" dirty="0"/>
              <a:t>• So the </a:t>
            </a:r>
            <a:r>
              <a:rPr lang="en-US" sz="1800" dirty="0" smtClean="0"/>
              <a:t>methods</a:t>
            </a:r>
            <a:r>
              <a:rPr sz="1800" dirty="0" smtClean="0"/>
              <a:t> </a:t>
            </a:r>
            <a:r>
              <a:rPr sz="1800" dirty="0"/>
              <a:t>sit on a spectrum:</a:t>
            </a:r>
          </a:p>
          <a:p>
            <a:pPr lvl="1">
              <a:spcAft>
                <a:spcPts val="600"/>
              </a:spcAft>
            </a:pPr>
            <a:r>
              <a:rPr sz="1700" dirty="0"/>
              <a:t>- More inference  -&gt;  higher recall  -&gt;  but more invented (hallucinated) components</a:t>
            </a:r>
          </a:p>
          <a:p>
            <a:pPr lvl="1">
              <a:spcAft>
                <a:spcPts val="600"/>
              </a:spcAft>
            </a:pPr>
            <a:r>
              <a:rPr sz="1700" dirty="0"/>
              <a:t>- More grounding  -&gt;  fewer false positives  -&gt;  but misses implicit structure</a:t>
            </a:r>
          </a:p>
          <a:p>
            <a:pPr>
              <a:spcAft>
                <a:spcPts val="600"/>
              </a:spcAft>
            </a:pPr>
            <a:r>
              <a:rPr sz="1800" dirty="0"/>
              <a:t>• The project MEASURES this tradeoff instead of assuming a winner.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5. The System (DiagramLens)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User uploads a diagram image (PNG / JPG / WebP).</a:t>
            </a:r>
          </a:p>
          <a:p>
            <a:pPr>
              <a:spcAft>
                <a:spcPts val="600"/>
              </a:spcAft>
            </a:pPr>
            <a:r>
              <a:rPr sz="1800"/>
              <a:t>• Three pipelines run in parallel, each returning an IDENTICAL JSON schema (components, connections, metadata).</a:t>
            </a:r>
          </a:p>
          <a:p>
            <a:pPr>
              <a:spcAft>
                <a:spcPts val="600"/>
              </a:spcAft>
            </a:pPr>
            <a:r>
              <a:rPr sz="1800"/>
              <a:t>• Novel component: OCR-based hallucination filter.</a:t>
            </a:r>
          </a:p>
          <a:p>
            <a:pPr lvl="1">
              <a:spcAft>
                <a:spcPts val="600"/>
              </a:spcAft>
            </a:pPr>
            <a:r>
              <a:rPr sz="1700"/>
              <a:t>- Cross-validates each VLM-extracted component name against full-image Tesseract OCR text.</a:t>
            </a:r>
          </a:p>
          <a:p>
            <a:pPr lvl="1">
              <a:spcAft>
                <a:spcPts val="600"/>
              </a:spcAft>
            </a:pPr>
            <a:r>
              <a:rPr sz="1700"/>
              <a:t>- Diagrams carry printed text = an independent ground-truth signal that free-text tasks do not have.</a:t>
            </a:r>
          </a:p>
          <a:p>
            <a:pPr>
              <a:spcAft>
                <a:spcPts val="600"/>
              </a:spcAft>
            </a:pPr>
            <a:r>
              <a:rPr sz="1800"/>
              <a:t>• Frontend renders each pipeline as an interactive React Flow diagram, side-by-side, with packet-flow animation.</a:t>
            </a:r>
          </a:p>
          <a:p>
            <a:pPr>
              <a:spcAft>
                <a:spcPts val="600"/>
              </a:spcAft>
            </a:pPr>
            <a:r>
              <a:rPr sz="1800"/>
              <a:t>• Stack: FastAPI + Next.js + React Flow + PostgreSQL + Redis + Docker.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6. How It Is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/>
              <a:t>• Ground truth dataset: 25 manually annotated diagrams, from public sources (AWS, GCP/Azure, C4, UML, informal).</a:t>
            </a:r>
          </a:p>
          <a:p>
            <a:pPr>
              <a:spcAft>
                <a:spcPts val="600"/>
              </a:spcAft>
            </a:pPr>
            <a:r>
              <a:rPr sz="1800" dirty="0"/>
              <a:t>• 5 notation standards x 3 complexity tiers (low &lt;=7, medium 8-14, high 15+ components).</a:t>
            </a:r>
          </a:p>
          <a:p>
            <a:pPr>
              <a:spcAft>
                <a:spcPts val="600"/>
              </a:spcAft>
            </a:pPr>
            <a:r>
              <a:rPr sz="1800" dirty="0"/>
              <a:t>• Metrics per pipeline: component + connection Precision, Recall, F1.</a:t>
            </a:r>
          </a:p>
          <a:p>
            <a:pPr lvl="1">
              <a:spcAft>
                <a:spcPts val="600"/>
              </a:spcAft>
            </a:pPr>
            <a:r>
              <a:rPr sz="1700" dirty="0"/>
              <a:t>- Fuzzy string matching (</a:t>
            </a:r>
            <a:r>
              <a:rPr sz="1700" dirty="0" err="1"/>
              <a:t>SequenceMatcher</a:t>
            </a:r>
            <a:r>
              <a:rPr sz="1700" dirty="0"/>
              <a:t>, threshold 0.75) handles label variation between pipelines.</a:t>
            </a:r>
          </a:p>
          <a:p>
            <a:pPr>
              <a:spcAft>
                <a:spcPts val="600"/>
              </a:spcAft>
            </a:pPr>
            <a:r>
              <a:rPr sz="1800" dirty="0"/>
              <a:t>• Also </a:t>
            </a:r>
            <a:r>
              <a:rPr lang="en-US" sz="1800" dirty="0" smtClean="0"/>
              <a:t>tried to </a:t>
            </a:r>
            <a:r>
              <a:rPr sz="1800" dirty="0" smtClean="0"/>
              <a:t>measure: </a:t>
            </a:r>
            <a:r>
              <a:rPr sz="1800" dirty="0"/>
              <a:t>hallucination rate per component type, inference latency.</a:t>
            </a:r>
          </a:p>
          <a:p>
            <a:pPr>
              <a:spcAft>
                <a:spcPts val="600"/>
              </a:spcAft>
            </a:pPr>
            <a:r>
              <a:rPr sz="1800" dirty="0"/>
              <a:t>• Controlled variables: same dataset, same threshold, CPU-only inference for all local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7.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/>
              <a:t>• First empirical three-paradigm benchmark on software architecture diagram extraction.</a:t>
            </a:r>
          </a:p>
          <a:p>
            <a:pPr>
              <a:spcAft>
                <a:spcPts val="600"/>
              </a:spcAft>
            </a:pPr>
            <a:r>
              <a:rPr sz="1800" dirty="0"/>
              <a:t>• </a:t>
            </a:r>
            <a:r>
              <a:rPr lang="en-US" dirty="0"/>
              <a:t>G</a:t>
            </a:r>
            <a:r>
              <a:rPr sz="1800" dirty="0" smtClean="0"/>
              <a:t>round </a:t>
            </a:r>
            <a:r>
              <a:rPr sz="1800" dirty="0"/>
              <a:t>truth dataset - 25 diagrams, 5 standards, 3 complexity </a:t>
            </a:r>
            <a:r>
              <a:rPr sz="1800" dirty="0" smtClean="0"/>
              <a:t>tiers.</a:t>
            </a:r>
            <a:endParaRPr sz="1800" dirty="0"/>
          </a:p>
          <a:p>
            <a:pPr>
              <a:spcAft>
                <a:spcPts val="600"/>
              </a:spcAft>
            </a:pPr>
            <a:r>
              <a:rPr sz="1800" dirty="0"/>
              <a:t>• Novel application of SAM + CLIP + </a:t>
            </a:r>
            <a:r>
              <a:rPr sz="1800" dirty="0" err="1"/>
              <a:t>TrOCR</a:t>
            </a:r>
            <a:r>
              <a:rPr sz="1800" dirty="0"/>
              <a:t> ensemble to architecture-diagram extraction.</a:t>
            </a:r>
          </a:p>
          <a:p>
            <a:pPr>
              <a:spcAft>
                <a:spcPts val="600"/>
              </a:spcAft>
            </a:pPr>
            <a:r>
              <a:rPr sz="1800" dirty="0" smtClean="0"/>
              <a:t>• OCR-based </a:t>
            </a:r>
            <a:r>
              <a:rPr sz="1800" dirty="0"/>
              <a:t>hallucination filter tailored to the verifiable-text property of diagrams.</a:t>
            </a:r>
          </a:p>
          <a:p>
            <a:pPr>
              <a:spcAft>
                <a:spcPts val="600"/>
              </a:spcAft>
            </a:pPr>
            <a:r>
              <a:rPr sz="1800" dirty="0"/>
              <a:t>• Failure-mode analysis: WHERE and WHY each paradigm breaks, per notation standard and complexity.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10. One-Line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 dirty="0"/>
              <a:t>Thank </a:t>
            </a:r>
            <a:r>
              <a:rPr sz="1800" i="1" dirty="0" smtClean="0"/>
              <a:t>you</a:t>
            </a:r>
            <a:endParaRPr sz="1800" i="1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/>
              <a:t>• </a:t>
            </a:r>
            <a:r>
              <a:rPr sz="1800" dirty="0" err="1"/>
              <a:t>DiagramLens</a:t>
            </a:r>
            <a:r>
              <a:rPr sz="1800" dirty="0"/>
              <a:t> decomposes software architecture diagram understanding into geometry, perception, and </a:t>
            </a:r>
            <a:r>
              <a:rPr sz="1800" dirty="0" smtClean="0"/>
              <a:t>reasoning</a:t>
            </a:r>
            <a:r>
              <a:rPr lang="en-US" sz="1800" dirty="0" smtClean="0"/>
              <a:t> </a:t>
            </a:r>
            <a:r>
              <a:rPr sz="1800" dirty="0" smtClean="0"/>
              <a:t>then </a:t>
            </a:r>
            <a:r>
              <a:rPr sz="1800" dirty="0"/>
              <a:t>empirically measures how far each paradigm gets, and where generative reasoning starts inventing structure that is not in the image.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749</Words>
  <Application>Microsoft Office PowerPoint</Application>
  <PresentationFormat>Custom</PresentationFormat>
  <Paragraphs>56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2026-07-09T10:53:54Z</dcterms:modified>
  <cp:category/>
</cp:coreProperties>
</file>